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анилцуулга" id="{b664c03b-0a49-c786-58d0-d297185d8bb0}">
          <p14:sldIdLst>
            <p14:sldId id="256"/>
            <p14:sldId id="257"/>
          </p14:sldIdLst>
        </p14:section>
        <p14:section name="1. Системийн хэрэглэгчид" id="{8860d668-8479-8ff9-052a-097393a5f108}">
          <p14:sldIdLst>
            <p14:sldId id="258"/>
          </p14:sldIdLst>
        </p14:section>
        <p14:section name="2. Функциональ шаардлага" id="{3f373912-0c1d-2af0-a5fc-042248abcc9c}">
          <p14:sldIdLst>
            <p14:sldId id="259"/>
            <p14:sldId id="260"/>
            <p14:sldId id="261"/>
            <p14:sldId id="262"/>
            <p14:sldId id="263"/>
          </p14:sldIdLst>
        </p14:section>
        <p14:section name="3. Функциональ бус шаардлага" id="{1deaee28-1817-22ee-cff0-6f3aeabec71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lob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583680" y="-1463040"/>
            <a:ext cx="713232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Машин засварын цаг захиалгын мэдээллийн систем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lobL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7863840" y="-1280160"/>
            <a:ext cx="603504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Машин засварын цаг захиалгын мэдээллийн систем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Системийн шинжилгээ ба зохиомж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Лабораторын ажил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шаардлага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Сэдэв: Машин засварын цаг захиалгын мэдээллийн систем</a:t>
            </a:r>
            <a:endParaRPr lang="en-US" sz="2000" dirty="0"/>
          </a:p>
        </p:txBody>
      </p:sp>
      <p:sp>
        <p:nvSpPr>
          <p:cNvPr id="6" name="Team card"/>
          <p:cNvSpPr/>
          <p:nvPr/>
        </p:nvSpPr>
        <p:spPr>
          <a:xfrm>
            <a:off x="8138160" y="2926080"/>
            <a:ext cx="3474720" cy="3108960"/>
          </a:xfrm>
          <a:prstGeom prst="roundRect">
            <a:avLst>
              <a:gd name="adj" fmla="val 4412"/>
            </a:avLst>
          </a:prstGeom>
          <a:solidFill>
            <a:schemeClr val="bg1">
              <a:alpha val="7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6676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Баг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35204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О.Урангоо (ахлагч)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Н.Мөнхжаргал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Б.Лхагвадорж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Б.Хосбаяр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С.Эрдэнэ-Ундрах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Агуулга</a:t>
            </a:r>
            <a:endParaRPr lang="en-US" sz="3000" dirty="0"/>
          </a:p>
        </p:txBody>
      </p:sp>
      <p:sp>
        <p:nvSpPr>
          <p:cNvPr id="3" name="Agenda card 1"/>
          <p:cNvSpPr/>
          <p:nvPr/>
        </p:nvSpPr>
        <p:spPr>
          <a:xfrm>
            <a:off x="548640" y="173736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11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Системийн хэрэглэгчид</a:t>
            </a:r>
            <a:endParaRPr lang="en-US" sz="2200" dirty="0"/>
          </a:p>
        </p:txBody>
      </p:sp>
      <p:sp>
        <p:nvSpPr>
          <p:cNvPr id="7" name="Agenda card 2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Num 2"/>
          <p:cNvSpPr/>
          <p:nvPr/>
        </p:nvSpPr>
        <p:spPr>
          <a:xfrm>
            <a:off x="822960" y="33832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46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Хэрэглэгч тус бүрийн функциональ шаардлага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703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2.1 Харилцагч · 2.2 Хүлээн авагч · 2.3 Засварчин · 2.4 Менежер · 2.5 Систем (автомат)</a:t>
            </a:r>
            <a:endParaRPr lang="en-US" sz="1500" dirty="0"/>
          </a:p>
        </p:txBody>
      </p:sp>
      <p:sp>
        <p:nvSpPr>
          <p:cNvPr id="12" name="Agenda card 3"/>
          <p:cNvSpPr/>
          <p:nvPr/>
        </p:nvSpPr>
        <p:spPr>
          <a:xfrm>
            <a:off x="548640" y="448056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Num 3"/>
          <p:cNvSpPr/>
          <p:nvPr/>
        </p:nvSpPr>
        <p:spPr>
          <a:xfrm>
            <a:off x="822960" y="47548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7548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Функциональ бус шаардлага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Системийн хэрэглэгчид</a:t>
            </a:r>
            <a:endParaRPr lang="en-US" sz="3000" dirty="0"/>
          </a:p>
        </p:txBody>
      </p:sp>
      <p:sp>
        <p:nvSpPr>
          <p:cNvPr id="3" name="User card 1"/>
          <p:cNvSpPr/>
          <p:nvPr/>
        </p:nvSpPr>
        <p:spPr>
          <a:xfrm>
            <a:off x="548640" y="1463040"/>
            <a:ext cx="2057400" cy="4023360"/>
          </a:xfrm>
          <a:prstGeom prst="roundRect">
            <a:avLst>
              <a:gd name="adj" fmla="val 5333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User num 1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Харилцагч (машины эзэн)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Онлайнаар машинаа бүртгэж, засварын цаг захиалах, өөрчлөх, цуцлах хүн.</a:t>
            </a:r>
            <a:endParaRPr lang="en-US" sz="1400" dirty="0"/>
          </a:p>
        </p:txBody>
      </p:sp>
      <p:sp>
        <p:nvSpPr>
          <p:cNvPr id="8" name="User card 2"/>
          <p:cNvSpPr/>
          <p:nvPr/>
        </p:nvSpPr>
        <p:spPr>
          <a:xfrm>
            <a:off x="2800350" y="1463040"/>
            <a:ext cx="2057400" cy="4023360"/>
          </a:xfrm>
          <a:prstGeom prst="roundRect">
            <a:avLst>
              <a:gd name="adj" fmla="val 5333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User num 2"/>
          <p:cNvSpPr/>
          <p:nvPr/>
        </p:nvSpPr>
        <p:spPr>
          <a:xfrm>
            <a:off x="298323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323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83230" y="2377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Хүлээн авагч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83230" y="33832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Утсаар болон биечлэн ирсэн захиалгыг бүртгэх, баталгаажуулах, машин хүлээн авах, захиалгыг хаах ажилтан.</a:t>
            </a:r>
            <a:endParaRPr lang="en-US" sz="1400" dirty="0"/>
          </a:p>
        </p:txBody>
      </p:sp>
      <p:sp>
        <p:nvSpPr>
          <p:cNvPr id="13" name="User card 3"/>
          <p:cNvSpPr/>
          <p:nvPr/>
        </p:nvSpPr>
        <p:spPr>
          <a:xfrm>
            <a:off x="5052060" y="1463040"/>
            <a:ext cx="2057400" cy="4023360"/>
          </a:xfrm>
          <a:prstGeom prst="roundRect">
            <a:avLst>
              <a:gd name="adj" fmla="val 5333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User num 3"/>
          <p:cNvSpPr/>
          <p:nvPr/>
        </p:nvSpPr>
        <p:spPr>
          <a:xfrm>
            <a:off x="52349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49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34940" y="2377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Засварчин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34940" y="33832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Өөрт оноогдсон ажлыг харж, гүйцэтгэлийн төлөвийг шинэчлэх ажилтан.</a:t>
            </a:r>
            <a:endParaRPr lang="en-US" sz="1400" dirty="0"/>
          </a:p>
        </p:txBody>
      </p:sp>
      <p:sp>
        <p:nvSpPr>
          <p:cNvPr id="18" name="User card 4"/>
          <p:cNvSpPr/>
          <p:nvPr/>
        </p:nvSpPr>
        <p:spPr>
          <a:xfrm>
            <a:off x="7303770" y="1463040"/>
            <a:ext cx="2057400" cy="4023360"/>
          </a:xfrm>
          <a:prstGeom prst="roundRect">
            <a:avLst>
              <a:gd name="adj" fmla="val 5333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User num 4"/>
          <p:cNvSpPr/>
          <p:nvPr/>
        </p:nvSpPr>
        <p:spPr>
          <a:xfrm>
            <a:off x="748665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8665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86650" y="2377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Менежер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86650" y="33832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Засварчин, үйлчилгээ, хуваарийг тохируулах, тайлан харах, хэрэглэгчийн эрх удирдах ажилтан.</a:t>
            </a:r>
            <a:endParaRPr lang="en-US" sz="1400" dirty="0"/>
          </a:p>
        </p:txBody>
      </p:sp>
      <p:sp>
        <p:nvSpPr>
          <p:cNvPr id="23" name="User card 5"/>
          <p:cNvSpPr/>
          <p:nvPr/>
        </p:nvSpPr>
        <p:spPr>
          <a:xfrm>
            <a:off x="9555480" y="1463040"/>
            <a:ext cx="2057400" cy="4023360"/>
          </a:xfrm>
          <a:prstGeom prst="roundRect">
            <a:avLst>
              <a:gd name="adj" fmla="val 5333"/>
            </a:avLst>
          </a:prstGeom>
          <a:solidFill>
            <a:schemeClr val="bg1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User num 5"/>
          <p:cNvSpPr/>
          <p:nvPr/>
        </p:nvSpPr>
        <p:spPr>
          <a:xfrm>
            <a:off x="97383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83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2377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SMS, и-мэйл үйлчилгээ (гадаад систем)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33832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Системээс илгээсэн баталгаа, сануулгыг харилцагчид хүргэнэ.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Харилцагчийн функциональ шаардлага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Функц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Параметр (оролт / гаралт)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Бүртгүүлэх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Овог, нэр, утасны дугаар, и-мэйл, нууц үг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Нэвтрэх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Утасны дугаар эсвэл и-мэйл, нууц үг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Машин бүртгэх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Улсын дугаар, марк, загвар, үйлдвэрлэсэн он, арлын дугаар (VIN, заавал биш)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Цаг захиалах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Машин, үйлчилгээний төрөл, хүссэн огноо, хүссэн цаг, нэмэлт тайлбар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Захиалгын төлөв харах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Захиалгын дугаар → төлөв (хүлээгдэж буй, баталгаажсан, засварлаж буй, дууссан, цуцлагдсан), огноо, цаг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Цаг өөрчлөх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Захиалгын дугаар, шинэ огноо, шинэ цаг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Цаг цуцлах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Захиалгын дугаар, цуцлах шалтгаан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Захиалгын түүх харах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Машин, эхлэх огноо, дуусах огноо → өмнөх захиалга, гүйцэтгэсэн ажил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Хүлээн авагчийн функциональ шаардлага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Функц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Параметр (оролт / гаралт)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Утсаар ирсэн захиалга бүртгэх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Харилцагчийн утасны дугаар, машины улсын дугаар, үйлчилгээний төрөл, огноо, цаг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Захиалга баталгаажуулах, татгалзах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Захиалгын дугаар, шийдвэр, тайлбар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Харилцагч, машины мэдээлэл засах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Харилцагчийн дугаар, засах талбарууд (нэр, утас, и-мэйл, машины мэдээлэл)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Машин хүлээн авах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Захиалгын дугаар, ирсэн цаг, машины байдлын тэмдэглэл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Ирээгүй, хоцорсон захиалга тэмдэглэх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Захиалгын дугаар, төлөв (ирээгүй / хоцорсон), хоцорсон минут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Захиалга хаах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Захиалгын дугаар, гүйцэтгэсэн ажил, дууссан цаг, төлбөрийн дүн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DB8"/>
                          </a:solidFill>
                        </a:rPr>
                        <a:t>Өдрийн захиалгын жагсаалт харах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92D"/>
                          </a:solidFill>
                        </a:rPr>
                        <a:t>Огноо, төлөв → захиалгын жагсаалт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Засварчны функциональ шаардлага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Функц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Параметр (оролт / гаралт)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Өдрийн ажлын хуваарь харах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Огноо → оноогдсон захиалгын жагсаалт (цаг, машин, үйлчилгээ)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Ажлын төлөв шинэчлэх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Захиалгын дугаар, төлөв (эхэлсэн / хийгдэж байна / дууссан), эхэлсэн цаг, дууссан цаг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Гүйцэтгэсэн ажил тэмдэглэх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Захиалгын дугаар, ажлын тайлбар, ашигласан сэлбэг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Завгүй цаг тэмдэглэх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Огноо, эхлэх цаг, дуусах цаг, шалтгаан (чөлөө, өвчтэй г.м)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Менежерийн функциональ шаардлага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Функц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Параметр (оролт / гаралт)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Засварчин бүртгэх, засах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Овог, нэр, мэргэшил, утасны дугаар, ажлын цаг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Ажлын байр (засварын шугам) бүртгэх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Ажлын байрны дугаар, нэр, төрөл, төлөв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Үйлчилгээний төрөл тохируулах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Үйлчилгээний нэр, үнэ, үргэлжлэх хугацаа (минут), шаардлагатай ажлын байрны төрөл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Ажлын хуваарь, амралтын өдөр тохируулах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Огноо, ажиллах эхлэх цаг, дуусах цаг, амралтын өдөр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Тайлан гаргах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Тайлангийн төрөл (захиалгын тоо, ирээгүй захиалга, засварчны ачаалал, орлого), эхлэх огноо, дуусах огноо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Хэрэглэгчийн эрх удирдах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Хэрэглэгч, үүрэг (хүлээн авагч / засварчин / менежер), төлөв (идэвхтэй / хаагдсан)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Системийн функциональ шаардлага (автомат)</a:t>
            </a:r>
            <a:endParaRPr lang="en-US" sz="30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Функц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Параметр (оролт / гаралт)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Чөлөөт цаг шалгах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Огноо, үйлчилгээний төрөл, үргэлжлэх хугацаа → чөлөөтэй цагуудын жагсаалт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Захиалгын давхардал шалгах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Засварчин, ажлын байр, эхлэх цаг, дуусах цаг → давхардсан эсэх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Засварчин, ажлын байр оноох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Захиалга → чөлөөтэй, мэргэжил таарсан засварчин, ажлын байр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Баталгаажуулах мэдэгдэл илгээх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Захиалгын дугаар, утасны дугаар, и-мэйл → SMS, и-мэйл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Сануулга илгээх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Захиалгын цагаас тогтоосон хугацааны өмнө (анхдагч нь 24 цаг) харилцагчид сануулга илгээнэ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Үйлчилгээний үнэ бодох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Үйлчилгээний төрөл, нэмэлт ажил, сэлбэг → нийт дүн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Эрх шалгах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Хэрэглэгч, хүссэн үйлдэл → зөвшөөрсөн эсэх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C3F0"/>
                          </a:solidFill>
                        </a:rPr>
                        <a:t>Захиалгын түүх хадгалах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Захиалга бүрийн өөрчлөлт (огноо, хэн, юу өөрчилсөн)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Функциональ бус шаардлага (1/2)</a:t>
            </a:r>
            <a:endParaRPr lang="en-US" sz="3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760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Ангилал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Шаардлага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Хэмжих шалгуур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Давхцал хяналт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Нэг засварчин, нэг ажлын байрт нэг цагт давхар захиалга бүртгэгдэхгүй байх. Хоёр хүн нэг зэрэг ижил цаг захиалахад нэгийг нь л хүлээн авна.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Зэрэгцээ 2 хүсэлтийн тестэд давхардал 0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Хүртээмж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Систем 24/7 ажиллаж, харилцагч хэзээ ч цаг захиалах боломжтой байх.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Сарын ажиллагаа 99%-иас дээш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Гүйцэтгэл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Хуудас нээх, чөлөөт цаг шалгах, захиалга бүртгэх үйлдэл хурдан хариу өгөх.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Хариу 3 секундээс бага; 100 зэрэг хэрэглэгч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Аюулгүй байдал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Хэрэглэгчийн үүргээр (эрхээр) хандалтыг хязгаарлах. Нууц үгийг нууцлан хадгалах. Өгөгдөл дамжуулалтыг HTTPS-ээр хийх.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Эрхгүй хэрэглэгч бусдын мэдээлэл харах боломжгүй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6DB8"/>
                          </a:solidFill>
                        </a:rPr>
                        <a:t>Өгөгдлийн нөөцлөлт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Өгөгдлийн санг тогтмол нөөцөлж, эвдрэлээс сэргээх боломжтой байх.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92D"/>
                          </a:solidFill>
                        </a:rPr>
                        <a:t>Өдөр бүр автоматаар нөөцөлнө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6B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Функциональ бус шаардлага (2/2)</a:t>
            </a:r>
            <a:endParaRPr lang="en-US" sz="30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760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Ангилал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Шаардлага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Хэмжих шалгуур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Хэрэглэхэд хялбар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Утасны дэлгэцэнд тохирсон, Монгол хэлтэй, ойлгомжтой интерфейс.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Цаг захиалга 5-аас дээшгүй алхамтай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Нийцэх чанар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Chrome, Edge, Firefox, Safari хөтөч дээр ажиллах.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Дөрвөн хөтөч дээр тест хийсэн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Найдвартай мэдэгдэл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SMS, и-мэйл илгээж чадаагүй тохиолдолд дахин оролдож, лог хөтлөх.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Илгээлтийн төлөв бүртгэгдсэн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D5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CC3F0"/>
                          </a:solidFill>
                        </a:rPr>
                        <a:t>Засвар, өргөтгөл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Модуль тус тусдаа, баримтжуулсан байх тул шинэ үйлчилгээ, шинэ салбар нэмэхэд хялбар.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Бичиг баримт, код тайлбартай</a:t>
                      </a:r>
                      <a:endParaRPr lang="en-US" sz="16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7A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24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rage Booking">
  <a:themeElements>
    <a:clrScheme name="Garage Booking">
      <a:dk1>
        <a:srgbClr val="26292D"/>
      </a:dk1>
      <a:lt1>
        <a:srgbClr val="FFFFFF"/>
      </a:lt1>
      <a:dk2>
        <a:srgbClr val="3E4146"/>
      </a:dk2>
      <a:lt2>
        <a:srgbClr val="D9DEE5"/>
      </a:lt2>
      <a:accent1>
        <a:srgbClr val="3B82D6"/>
      </a:accent1>
      <a:accent2>
        <a:srgbClr val="9CC3F0"/>
      </a:accent2>
      <a:accent3>
        <a:srgbClr val="6C7A89"/>
      </a:accent3>
      <a:accent4>
        <a:srgbClr val="BFD8F5"/>
      </a:accent4>
      <a:accent5>
        <a:srgbClr val="5B6B7C"/>
      </a:accent5>
      <a:accent6>
        <a:srgbClr val="8FB3D9"/>
      </a:accent6>
      <a:hlink>
        <a:srgbClr val="3B82D6"/>
      </a:hlink>
      <a:folHlink>
        <a:srgbClr val="6C7A89"/>
      </a:folHlink>
    </a:clrScheme>
    <a:fontScheme name="Garage Book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Хэрэглэгчийн шаардлага - Машин засварын цаг захиалгын мэдээллийн систем</dc:title>
  <dc:subject>PptxGenJS Presentation</dc:subject>
  <dc:creator>PptxGenJS</dc:creator>
  <cp:lastModifiedBy>PptxGenJS</cp:lastModifiedBy>
  <cp:revision>1</cp:revision>
  <dcterms:created xsi:type="dcterms:W3CDTF">2026-10-06T06:31:21Z</dcterms:created>
  <dcterms:modified xsi:type="dcterms:W3CDTF">2026-10-06T06:31:21Z</dcterms:modified>
</cp:coreProperties>
</file>